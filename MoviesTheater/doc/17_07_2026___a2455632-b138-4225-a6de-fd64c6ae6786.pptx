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sldIdLst>
    <p:sldId id="290" r:id="rId3"/>
    <p:sldId id="257" r:id="rId4"/>
    <p:sldId id="258" r:id="rId5"/>
    <p:sldId id="259" r:id="rId6"/>
    <p:sldId id="260" r:id="rId7"/>
    <p:sldId id="262" r:id="rId8"/>
    <p:sldId id="261" r:id="rId9"/>
    <p:sldId id="266" r:id="rId10"/>
    <p:sldId id="267" r:id="rId11"/>
    <p:sldId id="268" r:id="rId12"/>
    <p:sldId id="269" r:id="rId13"/>
    <p:sldId id="263" r:id="rId14"/>
    <p:sldId id="265" r:id="rId15"/>
    <p:sldId id="264" r:id="rId16"/>
    <p:sldId id="270" r:id="rId17"/>
    <p:sldId id="289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6EF4557C-EAC1-417A-ABAF-AB773A776EB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5430" y="415492"/>
            <a:ext cx="174171" cy="194108"/>
          </a:xfrm>
          <a:prstGeom prst="rect">
            <a:avLst/>
          </a:prstGeom>
          <a:solidFill>
            <a:srgbClr val="FF5C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228600"/>
            <a:ext cx="5638800" cy="457200"/>
          </a:xfrm>
          <a:prstGeom prst="rect">
            <a:avLst/>
          </a:prstGeom>
        </p:spPr>
        <p:txBody>
          <a:bodyPr/>
          <a:lstStyle>
            <a:lvl1pPr algn="l">
              <a:defRPr sz="1800">
                <a:solidFill>
                  <a:srgbClr val="F47206"/>
                </a:solidFill>
                <a:latin typeface="Myriad Pro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7" name="Straight Connector 6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8" y="194689"/>
            <a:ext cx="2142909" cy="80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2225842" y="0"/>
            <a:ext cx="6811691" cy="997155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/>
              <a:t>Click to edit Master title style</a:t>
            </a:r>
            <a:endParaRPr lang="en-US" sz="3200" dirty="0"/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8727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361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6EF4557C-EAC1-417A-ABAF-AB773A776EB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225842" y="1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51495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3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6EF4557C-EAC1-417A-ABAF-AB773A776EB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0180" y="1191125"/>
            <a:ext cx="7772399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629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6EF4557C-EAC1-417A-ABAF-AB773A776EB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233863" y="0"/>
            <a:ext cx="6811691" cy="91440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838201" y="1230714"/>
            <a:ext cx="7772399" cy="495701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56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rgbClr val="F85B14"/>
                </a:solidFill>
              </a:defRPr>
            </a:lvl1pPr>
          </a:lstStyle>
          <a:p>
            <a:fld id="{6EF4557C-EAC1-417A-ABAF-AB773A776EB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52400" y="0"/>
            <a:ext cx="9448800" cy="701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6770266"/>
            <a:ext cx="9448800" cy="240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109854" y="0"/>
            <a:ext cx="6927680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697832" y="1191125"/>
            <a:ext cx="7904747" cy="51254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33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4557C-EAC1-417A-ABAF-AB773A776EB5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424" y="0"/>
            <a:ext cx="2021977" cy="99060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601134" y="914400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225842" y="0"/>
            <a:ext cx="6811691" cy="9144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60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/>
          <a:lstStyle/>
          <a:p>
            <a:fld id="{27D3339F-B19B-40C0-841A-92D18AF140E9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6EF4557C-EAC1-417A-ABAF-AB773A77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28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0499"/>
            <a:ext cx="6811691" cy="1052161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0180" y="1191126"/>
            <a:ext cx="7772399" cy="47043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255042" y="6130437"/>
            <a:ext cx="1347537" cy="370396"/>
          </a:xfrm>
          <a:prstGeom prst="rect">
            <a:avLst/>
          </a:prstGeom>
        </p:spPr>
        <p:txBody>
          <a:bodyPr/>
          <a:lstStyle/>
          <a:p>
            <a:fld id="{27D3339F-B19B-40C0-841A-92D18AF140E9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0180" y="6135809"/>
            <a:ext cx="682673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4557C-EAC1-417A-ABAF-AB773A776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03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9754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68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8044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5885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4277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90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93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66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714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8006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96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31F5B154-6733-44EE-BCED-0CE01457041A}" type="datetimeFigureOut">
              <a:rPr lang="en-US" smtClean="0"/>
              <a:t>3/18/2022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D3AF5079-2E50-44CB-9D8A-981B2820E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:\2014\FCC\Slide FPT for Global\Line ngang.pn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25612"/>
            <a:ext cx="9144000" cy="23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304800" y="6629400"/>
            <a:ext cx="762000" cy="228600"/>
          </a:xfrm>
          <a:prstGeom prst="rect">
            <a:avLst/>
          </a:prstGeom>
        </p:spPr>
        <p:txBody>
          <a:bodyPr/>
          <a:lstStyle>
            <a:lvl1pPr algn="l">
              <a:defRPr sz="825">
                <a:solidFill>
                  <a:schemeClr val="bg1"/>
                </a:solidFill>
              </a:defRPr>
            </a:lvl1pPr>
          </a:lstStyle>
          <a:p>
            <a:fld id="{6EF4557C-EAC1-417A-ABAF-AB773A776EB5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29" y="42289"/>
            <a:ext cx="2258580" cy="8457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"/>
          <p:cNvSpPr txBox="1">
            <a:spLocks/>
          </p:cNvSpPr>
          <p:nvPr/>
        </p:nvSpPr>
        <p:spPr>
          <a:xfrm>
            <a:off x="2438400" y="301627"/>
            <a:ext cx="6705600" cy="688975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20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sz="27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1134" y="997155"/>
            <a:ext cx="8009466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 txBox="1">
            <a:spLocks/>
          </p:cNvSpPr>
          <p:nvPr/>
        </p:nvSpPr>
        <p:spPr>
          <a:xfrm>
            <a:off x="2225842" y="166909"/>
            <a:ext cx="6811691" cy="1326753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36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08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1500" b="1" kern="1200">
          <a:solidFill>
            <a:srgbClr val="0066B2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E:\Kienlh\2018\Thuong-Hieu\Đại hôi cổ đông\logo-en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428" y="184834"/>
            <a:ext cx="2214339" cy="829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685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295400" y="304800"/>
            <a:ext cx="7781904" cy="690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321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package" Target="../embeddings/Microsoft_Word_Document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322781" y="101198"/>
            <a:ext cx="6811962" cy="824924"/>
          </a:xfrm>
          <a:prstGeom prst="rect">
            <a:avLst/>
          </a:prstGeom>
        </p:spPr>
        <p:txBody>
          <a:bodyPr/>
          <a:lstStyle>
            <a:lvl1pPr algn="ctr" defTabSz="685800" rtl="0" eaLnBrk="1" latinLnBrk="0" hangingPunct="1">
              <a:spcBef>
                <a:spcPct val="0"/>
              </a:spcBef>
              <a:buNone/>
              <a:defRPr sz="1500" b="1" kern="1200">
                <a:solidFill>
                  <a:srgbClr val="0066B2"/>
                </a:solidFill>
                <a:latin typeface="Myriad Pro" pitchFamily="34" charset="0"/>
                <a:ea typeface="+mj-ea"/>
                <a:cs typeface="+mj-cs"/>
              </a:defRPr>
            </a:lvl1pPr>
          </a:lstStyle>
          <a:p>
            <a:r>
              <a:rPr lang="en-US" sz="3200" dirty="0"/>
              <a:t>Review the last lesson</a:t>
            </a: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-1" y="1016000"/>
            <a:ext cx="9134743" cy="5588000"/>
          </a:xfrm>
          <a:prstGeom prst="rect">
            <a:avLst/>
          </a:prstGeom>
        </p:spPr>
        <p:txBody>
          <a:bodyPr anchor="t"/>
          <a:lstStyle>
            <a:lvl1pPr marL="0" indent="0" algn="l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57175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5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4350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1525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700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85875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543050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800225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/>
              <a:t>What did we learn from the last lessons?</a:t>
            </a:r>
          </a:p>
        </p:txBody>
      </p:sp>
    </p:spTree>
    <p:extLst>
      <p:ext uri="{BB962C8B-B14F-4D97-AF65-F5344CB8AC3E}">
        <p14:creationId xmlns:p14="http://schemas.microsoft.com/office/powerpoint/2010/main" val="3307541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05971" y="1867903"/>
            <a:ext cx="6295029" cy="2237873"/>
          </a:xfrm>
        </p:spPr>
        <p:txBody>
          <a:bodyPr>
            <a:normAutofit/>
          </a:bodyPr>
          <a:lstStyle/>
          <a:p>
            <a:pPr algn="ctr"/>
            <a:r>
              <a:rPr lang="en-US"/>
              <a:t>Chapter 32 </a:t>
            </a:r>
            <a:br>
              <a:rPr lang="en-US"/>
            </a:br>
            <a:r>
              <a:rPr lang="en-US"/>
              <a:t>Software requirements and risk management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35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91976"/>
            <a:ext cx="6811691" cy="695671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403" y="1028167"/>
            <a:ext cx="8413405" cy="5562756"/>
          </a:xfrm>
        </p:spPr>
        <p:txBody>
          <a:bodyPr/>
          <a:lstStyle/>
          <a:p>
            <a:pPr algn="just"/>
            <a:r>
              <a:rPr lang="en-US" dirty="0"/>
              <a:t>Presents a brief tutorial on </a:t>
            </a:r>
            <a:r>
              <a:rPr lang="en-US" b="1" dirty="0"/>
              <a:t>software risk management</a:t>
            </a:r>
            <a:r>
              <a:rPr lang="en-US" dirty="0"/>
              <a:t>  and a number of </a:t>
            </a:r>
            <a:r>
              <a:rPr lang="en-US" b="1" dirty="0"/>
              <a:t>risk factors</a:t>
            </a:r>
            <a:r>
              <a:rPr lang="en-US" dirty="0"/>
              <a:t> that can raise their ugly heads during requirements engineering activities. </a:t>
            </a:r>
          </a:p>
          <a:p>
            <a:pPr algn="just"/>
            <a:r>
              <a:rPr lang="en-US" dirty="0"/>
              <a:t>Understand that </a:t>
            </a:r>
            <a:r>
              <a:rPr lang="en-US" b="1" dirty="0"/>
              <a:t>potential problems might</a:t>
            </a:r>
            <a:r>
              <a:rPr lang="en-US" dirty="0"/>
              <a:t> have an adverse </a:t>
            </a:r>
            <a:r>
              <a:rPr lang="en-US" b="1" dirty="0"/>
              <a:t>impact</a:t>
            </a:r>
            <a:r>
              <a:rPr lang="en-US" dirty="0"/>
              <a:t> on the project’s cost, schedule, or technical  success; the product’s quality; or the team’s effectiveness.</a:t>
            </a:r>
          </a:p>
          <a:p>
            <a:pPr algn="just"/>
            <a:r>
              <a:rPr lang="en-US" dirty="0"/>
              <a:t>Be able to </a:t>
            </a:r>
            <a:r>
              <a:rPr lang="en-US" b="1" dirty="0"/>
              <a:t>identify</a:t>
            </a:r>
            <a:r>
              <a:rPr lang="en-US" dirty="0"/>
              <a:t> a list of </a:t>
            </a:r>
            <a:r>
              <a:rPr lang="en-US" b="1" dirty="0"/>
              <a:t>potential requirements risks </a:t>
            </a:r>
            <a:r>
              <a:rPr lang="en-US" dirty="0"/>
              <a:t>facing in their project.</a:t>
            </a:r>
          </a:p>
        </p:txBody>
      </p:sp>
    </p:spTree>
    <p:extLst>
      <p:ext uri="{BB962C8B-B14F-4D97-AF65-F5344CB8AC3E}">
        <p14:creationId xmlns:p14="http://schemas.microsoft.com/office/powerpoint/2010/main" val="734325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10083"/>
            <a:ext cx="6811691" cy="668511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347" y="1019115"/>
            <a:ext cx="8440568" cy="5526539"/>
          </a:xfrm>
        </p:spPr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/>
              <a:t>Fundamentals of software risk management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Requirements-related risks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Risk management is your friend</a:t>
            </a:r>
          </a:p>
        </p:txBody>
      </p:sp>
    </p:spTree>
    <p:extLst>
      <p:ext uri="{BB962C8B-B14F-4D97-AF65-F5344CB8AC3E}">
        <p14:creationId xmlns:p14="http://schemas.microsoft.com/office/powerpoint/2010/main" val="3625220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46712"/>
            <a:ext cx="6811691" cy="885794"/>
          </a:xfrm>
        </p:spPr>
        <p:txBody>
          <a:bodyPr>
            <a:noAutofit/>
          </a:bodyPr>
          <a:lstStyle/>
          <a:p>
            <a:r>
              <a:rPr lang="en-US" sz="2800" dirty="0"/>
              <a:t>Fundamentals of software risk management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602" y="1019113"/>
            <a:ext cx="8675954" cy="556275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What is risk?</a:t>
            </a:r>
          </a:p>
          <a:p>
            <a:pPr lvl="1" algn="just"/>
            <a:r>
              <a:rPr lang="en-US" dirty="0"/>
              <a:t>A risk is a condition that could cause some loss or otherwise threaten the success of a project. (Software Requirements, Third Edition, Karl </a:t>
            </a:r>
            <a:r>
              <a:rPr lang="en-US" dirty="0" err="1"/>
              <a:t>Wiegers</a:t>
            </a:r>
            <a:r>
              <a:rPr lang="en-US" dirty="0"/>
              <a:t> and Joy Beatty)</a:t>
            </a:r>
          </a:p>
          <a:p>
            <a:pPr lvl="1" algn="just"/>
            <a:r>
              <a:rPr lang="en-US" dirty="0"/>
              <a:t>A risk is an uncertain event or condition that, if it occurs, can have a positive or negative effect on one or more objectives. (PMBOK 7</a:t>
            </a:r>
            <a:r>
              <a:rPr lang="en-US" baseline="30000" dirty="0"/>
              <a:t>th</a:t>
            </a:r>
            <a:r>
              <a:rPr lang="en-US" dirty="0"/>
              <a:t> Edition, PMI)</a:t>
            </a:r>
          </a:p>
          <a:p>
            <a:pPr algn="just"/>
            <a:r>
              <a:rPr lang="en-US" dirty="0"/>
              <a:t>What is issue?</a:t>
            </a:r>
          </a:p>
          <a:p>
            <a:pPr lvl="1" algn="just"/>
            <a:r>
              <a:rPr lang="en-US" dirty="0"/>
              <a:t>If something untoward has already happened on the project, it’s an issue, not a risk.</a:t>
            </a:r>
          </a:p>
          <a:p>
            <a:pPr algn="just"/>
            <a:r>
              <a:rPr lang="en-US" dirty="0"/>
              <a:t>What is risk management?</a:t>
            </a:r>
          </a:p>
          <a:p>
            <a:pPr lvl="1" algn="just"/>
            <a:r>
              <a:rPr lang="en-US" dirty="0"/>
              <a:t>Risk management is the process of identifying, evaluating, and controlling risks before they harm your project. (Software Requirement)</a:t>
            </a:r>
          </a:p>
          <a:p>
            <a:pPr lvl="1" algn="just"/>
            <a:r>
              <a:rPr lang="en-US" dirty="0"/>
              <a:t>Risk management is the process of identifying, evaluating, and controlling risks to maximize positive risks (opportunities) and decrease exposure to negative risks (threats). (Project Management)</a:t>
            </a:r>
          </a:p>
        </p:txBody>
      </p:sp>
    </p:spTree>
    <p:extLst>
      <p:ext uri="{BB962C8B-B14F-4D97-AF65-F5344CB8AC3E}">
        <p14:creationId xmlns:p14="http://schemas.microsoft.com/office/powerpoint/2010/main" val="893473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64403"/>
            <a:ext cx="6811691" cy="550817"/>
          </a:xfrm>
        </p:spPr>
        <p:txBody>
          <a:bodyPr>
            <a:noAutofit/>
          </a:bodyPr>
          <a:lstStyle/>
          <a:p>
            <a:r>
              <a:rPr lang="en-US" sz="2800" dirty="0"/>
              <a:t>Elements of risk management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D5DB7-6485-439B-862A-F451932BC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453" y="1095472"/>
            <a:ext cx="8269317" cy="541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36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37658"/>
            <a:ext cx="6811691" cy="912955"/>
          </a:xfrm>
        </p:spPr>
        <p:txBody>
          <a:bodyPr>
            <a:noAutofit/>
          </a:bodyPr>
          <a:lstStyle/>
          <a:p>
            <a:r>
              <a:rPr lang="en-US" sz="2800" dirty="0"/>
              <a:t>Requirements-related risks:</a:t>
            </a:r>
            <a:br>
              <a:rPr lang="en-US" sz="2800" dirty="0"/>
            </a:br>
            <a:r>
              <a:rPr lang="en-US" sz="2800" dirty="0"/>
              <a:t>Requirements elicitation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49" y="1028169"/>
            <a:ext cx="8836182" cy="5553700"/>
          </a:xfrm>
        </p:spPr>
        <p:txBody>
          <a:bodyPr/>
          <a:lstStyle/>
          <a:p>
            <a:pPr algn="just"/>
            <a:r>
              <a:rPr lang="en-US" dirty="0"/>
              <a:t>Product vision and project scope: Scope creep </a:t>
            </a:r>
          </a:p>
          <a:p>
            <a:pPr algn="just"/>
            <a:r>
              <a:rPr lang="en-US" dirty="0"/>
              <a:t>Time spent on requirements development: Tight project schedules</a:t>
            </a:r>
          </a:p>
          <a:p>
            <a:pPr algn="just"/>
            <a:r>
              <a:rPr lang="en-US" dirty="0"/>
              <a:t>Customer engagement: Insufficient customer</a:t>
            </a:r>
          </a:p>
          <a:p>
            <a:pPr algn="just"/>
            <a:r>
              <a:rPr lang="en-US" dirty="0"/>
              <a:t>Completeness and correctness of requirements specifications</a:t>
            </a:r>
          </a:p>
          <a:p>
            <a:pPr algn="just"/>
            <a:r>
              <a:rPr lang="en-US" dirty="0"/>
              <a:t>Requirements for innovative products</a:t>
            </a:r>
          </a:p>
          <a:p>
            <a:pPr algn="just"/>
            <a:r>
              <a:rPr lang="en-US" dirty="0"/>
              <a:t>Defining nonfunctional requirements</a:t>
            </a:r>
          </a:p>
          <a:p>
            <a:pPr algn="just"/>
            <a:r>
              <a:rPr lang="en-US" dirty="0"/>
              <a:t>Customer agreement on requirements</a:t>
            </a:r>
          </a:p>
          <a:p>
            <a:pPr algn="just"/>
            <a:r>
              <a:rPr lang="en-US" dirty="0"/>
              <a:t>Unstated requirements: implicit expectations</a:t>
            </a:r>
          </a:p>
          <a:p>
            <a:pPr algn="just"/>
            <a:r>
              <a:rPr lang="en-US" dirty="0"/>
              <a:t>Existing product used as the requirements reference</a:t>
            </a:r>
          </a:p>
          <a:p>
            <a:pPr algn="just"/>
            <a:r>
              <a:rPr lang="en-US" dirty="0"/>
              <a:t>Solutions presented as needs</a:t>
            </a:r>
          </a:p>
          <a:p>
            <a:pPr algn="just"/>
            <a:r>
              <a:rPr lang="en-US" dirty="0"/>
              <a:t>Distrust between the business and the development team</a:t>
            </a:r>
          </a:p>
        </p:txBody>
      </p:sp>
    </p:spTree>
    <p:extLst>
      <p:ext uri="{BB962C8B-B14F-4D97-AF65-F5344CB8AC3E}">
        <p14:creationId xmlns:p14="http://schemas.microsoft.com/office/powerpoint/2010/main" val="3056541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37658"/>
            <a:ext cx="6811691" cy="912955"/>
          </a:xfrm>
        </p:spPr>
        <p:txBody>
          <a:bodyPr>
            <a:noAutofit/>
          </a:bodyPr>
          <a:lstStyle/>
          <a:p>
            <a:r>
              <a:rPr lang="en-US" sz="2800" dirty="0"/>
              <a:t>Requirements-related risks:</a:t>
            </a:r>
            <a:br>
              <a:rPr lang="en-US" sz="2800" dirty="0"/>
            </a:br>
            <a:r>
              <a:rPr lang="en-US" sz="2800" dirty="0"/>
              <a:t>Requirements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711" y="1028169"/>
            <a:ext cx="8657845" cy="5553700"/>
          </a:xfrm>
        </p:spPr>
        <p:txBody>
          <a:bodyPr/>
          <a:lstStyle/>
          <a:p>
            <a:pPr algn="just"/>
            <a:r>
              <a:rPr lang="en-US" dirty="0"/>
              <a:t>Requirements prioritization</a:t>
            </a:r>
          </a:p>
          <a:p>
            <a:pPr algn="just"/>
            <a:r>
              <a:rPr lang="en-US" dirty="0"/>
              <a:t>Technically difficult features</a:t>
            </a:r>
          </a:p>
          <a:p>
            <a:pPr algn="just"/>
            <a:r>
              <a:rPr lang="en-US" dirty="0"/>
              <a:t>Unfamiliar technologies, methods, languages, tools, or hardware</a:t>
            </a:r>
          </a:p>
        </p:txBody>
      </p:sp>
    </p:spTree>
    <p:extLst>
      <p:ext uri="{BB962C8B-B14F-4D97-AF65-F5344CB8AC3E}">
        <p14:creationId xmlns:p14="http://schemas.microsoft.com/office/powerpoint/2010/main" val="142212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37658"/>
            <a:ext cx="6811691" cy="912955"/>
          </a:xfrm>
        </p:spPr>
        <p:txBody>
          <a:bodyPr>
            <a:noAutofit/>
          </a:bodyPr>
          <a:lstStyle/>
          <a:p>
            <a:r>
              <a:rPr lang="en-US" sz="2800" dirty="0"/>
              <a:t>Requirements-related risks:</a:t>
            </a:r>
            <a:br>
              <a:rPr lang="en-US" sz="2800" dirty="0"/>
            </a:br>
            <a:r>
              <a:rPr lang="en-US" sz="2800" dirty="0"/>
              <a:t>Requirements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711" y="1028169"/>
            <a:ext cx="8657845" cy="5553700"/>
          </a:xfrm>
        </p:spPr>
        <p:txBody>
          <a:bodyPr/>
          <a:lstStyle/>
          <a:p>
            <a:pPr algn="just"/>
            <a:r>
              <a:rPr lang="en-US" dirty="0"/>
              <a:t>Requirements understanding</a:t>
            </a:r>
          </a:p>
          <a:p>
            <a:pPr algn="just"/>
            <a:r>
              <a:rPr lang="en-US" dirty="0"/>
              <a:t>Time pressure to proceed despite open issues</a:t>
            </a:r>
          </a:p>
          <a:p>
            <a:pPr algn="just"/>
            <a:r>
              <a:rPr lang="en-US" dirty="0"/>
              <a:t>Ambiguous terminology</a:t>
            </a:r>
          </a:p>
          <a:p>
            <a:pPr algn="just"/>
            <a:r>
              <a:rPr lang="en-US" dirty="0"/>
              <a:t>Design included in requirements</a:t>
            </a:r>
          </a:p>
        </p:txBody>
      </p:sp>
    </p:spTree>
    <p:extLst>
      <p:ext uri="{BB962C8B-B14F-4D97-AF65-F5344CB8AC3E}">
        <p14:creationId xmlns:p14="http://schemas.microsoft.com/office/powerpoint/2010/main" val="245725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37658"/>
            <a:ext cx="6811691" cy="912955"/>
          </a:xfrm>
        </p:spPr>
        <p:txBody>
          <a:bodyPr>
            <a:noAutofit/>
          </a:bodyPr>
          <a:lstStyle/>
          <a:p>
            <a:r>
              <a:rPr lang="en-US" sz="2800" dirty="0"/>
              <a:t>Requirements-related risks:</a:t>
            </a:r>
            <a:br>
              <a:rPr lang="en-US" sz="2800" dirty="0"/>
            </a:br>
            <a:r>
              <a:rPr lang="en-US" sz="2800" dirty="0"/>
              <a:t>Requirements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711" y="1028169"/>
            <a:ext cx="8657845" cy="5553700"/>
          </a:xfrm>
        </p:spPr>
        <p:txBody>
          <a:bodyPr/>
          <a:lstStyle/>
          <a:p>
            <a:pPr algn="just"/>
            <a:r>
              <a:rPr lang="en-US" dirty="0"/>
              <a:t>Unvalidated requirements</a:t>
            </a:r>
          </a:p>
          <a:p>
            <a:pPr algn="just"/>
            <a:r>
              <a:rPr lang="en-US" dirty="0"/>
              <a:t>Inspection proficiency</a:t>
            </a:r>
          </a:p>
        </p:txBody>
      </p:sp>
    </p:spTree>
    <p:extLst>
      <p:ext uri="{BB962C8B-B14F-4D97-AF65-F5344CB8AC3E}">
        <p14:creationId xmlns:p14="http://schemas.microsoft.com/office/powerpoint/2010/main" val="4073612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37658"/>
            <a:ext cx="6811691" cy="912955"/>
          </a:xfrm>
        </p:spPr>
        <p:txBody>
          <a:bodyPr>
            <a:noAutofit/>
          </a:bodyPr>
          <a:lstStyle/>
          <a:p>
            <a:r>
              <a:rPr lang="en-US" sz="2800" dirty="0"/>
              <a:t>Requirements-related risks:</a:t>
            </a:r>
            <a:br>
              <a:rPr lang="en-US" sz="2800" dirty="0"/>
            </a:br>
            <a:r>
              <a:rPr lang="en-US" sz="2800" dirty="0"/>
              <a:t>Requirements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711" y="1028169"/>
            <a:ext cx="8657845" cy="5553700"/>
          </a:xfrm>
        </p:spPr>
        <p:txBody>
          <a:bodyPr/>
          <a:lstStyle/>
          <a:p>
            <a:pPr algn="just"/>
            <a:r>
              <a:rPr lang="en-US" dirty="0"/>
              <a:t>Changing requirements</a:t>
            </a:r>
          </a:p>
          <a:p>
            <a:pPr algn="just"/>
            <a:r>
              <a:rPr lang="en-US" dirty="0"/>
              <a:t>Requirements change process</a:t>
            </a:r>
          </a:p>
          <a:p>
            <a:pPr algn="just"/>
            <a:r>
              <a:rPr lang="en-US" dirty="0"/>
              <a:t>Unimplemented requirements</a:t>
            </a:r>
          </a:p>
          <a:p>
            <a:pPr algn="just"/>
            <a:r>
              <a:rPr lang="en-US" dirty="0"/>
              <a:t>Expanding project scope</a:t>
            </a:r>
          </a:p>
        </p:txBody>
      </p:sp>
    </p:spTree>
    <p:extLst>
      <p:ext uri="{BB962C8B-B14F-4D97-AF65-F5344CB8AC3E}">
        <p14:creationId xmlns:p14="http://schemas.microsoft.com/office/powerpoint/2010/main" val="2977109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37243"/>
            <a:ext cx="6811691" cy="587031"/>
          </a:xfrm>
        </p:spPr>
        <p:txBody>
          <a:bodyPr>
            <a:noAutofit/>
          </a:bodyPr>
          <a:lstStyle/>
          <a:p>
            <a:r>
              <a:rPr lang="en-US" sz="2800" dirty="0"/>
              <a:t>Documenting project risks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CE61D1-D0A6-41B9-B8DA-439F3AAF5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724274"/>
            <a:ext cx="9144000" cy="6133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970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37243"/>
            <a:ext cx="6811691" cy="587031"/>
          </a:xfrm>
        </p:spPr>
        <p:txBody>
          <a:bodyPr>
            <a:noAutofit/>
          </a:bodyPr>
          <a:lstStyle/>
          <a:p>
            <a:r>
              <a:rPr lang="en-US" sz="2800" dirty="0"/>
              <a:t>Documenting project risks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4175E0-BAD8-4671-9ED6-7A9AE0D17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67" y="1023050"/>
            <a:ext cx="8201739" cy="556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069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91565"/>
            <a:ext cx="6811691" cy="550817"/>
          </a:xfrm>
        </p:spPr>
        <p:txBody>
          <a:bodyPr>
            <a:noAutofit/>
          </a:bodyPr>
          <a:lstStyle/>
          <a:p>
            <a:r>
              <a:rPr lang="en-US" sz="2800" dirty="0"/>
              <a:t>Planning for risk management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50EAA4-4A9D-4DE4-A45F-EFD18B9137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236"/>
          <a:stretch/>
        </p:blipFill>
        <p:spPr>
          <a:xfrm>
            <a:off x="309301" y="1385180"/>
            <a:ext cx="6642290" cy="4725909"/>
          </a:xfrm>
          <a:prstGeom prst="rect">
            <a:avLst/>
          </a:prstGeom>
        </p:spPr>
      </p:pic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3D71344B-FB6E-4100-9E7D-386412D2CB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842750"/>
              </p:ext>
            </p:extLst>
          </p:nvPr>
        </p:nvGraphicFramePr>
        <p:xfrm>
          <a:off x="7524750" y="3013075"/>
          <a:ext cx="1216025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Document" r:id="rId4" imgW="5943600" imgH="5708520" progId="Word.Document.12">
                  <p:embed/>
                </p:oleObj>
              </mc:Choice>
              <mc:Fallback>
                <p:oleObj name="Document" r:id="rId4" imgW="5943600" imgH="57085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24750" y="3013075"/>
                        <a:ext cx="1216025" cy="1169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91541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842" y="191565"/>
            <a:ext cx="6811691" cy="605138"/>
          </a:xfrm>
        </p:spPr>
        <p:txBody>
          <a:bodyPr>
            <a:noAutofit/>
          </a:bodyPr>
          <a:lstStyle/>
          <a:p>
            <a:r>
              <a:rPr lang="en-US" sz="2800" dirty="0"/>
              <a:t>Risk management is your friend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1711" y="1028169"/>
            <a:ext cx="8657845" cy="5553700"/>
          </a:xfrm>
        </p:spPr>
        <p:txBody>
          <a:bodyPr/>
          <a:lstStyle/>
          <a:p>
            <a:pPr algn="just"/>
            <a:r>
              <a:rPr lang="en-US" dirty="0"/>
              <a:t>Risk management helps you keep your eyes open and make informed decisions, even if you can’t control or avoid every adversity your project might encounter.</a:t>
            </a:r>
          </a:p>
        </p:txBody>
      </p:sp>
    </p:spTree>
    <p:extLst>
      <p:ext uri="{BB962C8B-B14F-4D97-AF65-F5344CB8AC3E}">
        <p14:creationId xmlns:p14="http://schemas.microsoft.com/office/powerpoint/2010/main" val="31434722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7123" y="91781"/>
            <a:ext cx="6811691" cy="802299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-1" y="1016000"/>
            <a:ext cx="9134743" cy="5588000"/>
          </a:xfrm>
          <a:prstGeom prst="rect">
            <a:avLst/>
          </a:prstGeom>
        </p:spPr>
        <p:txBody>
          <a:bodyPr anchor="t"/>
          <a:lstStyle>
            <a:lvl1pPr marL="0" indent="0" algn="l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57175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5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14350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1525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28700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85875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543050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800225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057400" indent="0" algn="ctr" defTabSz="514350" rtl="0" eaLnBrk="1" latinLnBrk="0" hangingPunct="1">
              <a:spcBef>
                <a:spcPct val="20000"/>
              </a:spcBef>
              <a:buFont typeface="Arial" pitchFamily="34" charset="0"/>
              <a:buNone/>
              <a:defRPr sz="112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/>
              <a:t>What do we learn from today lesson?</a:t>
            </a:r>
          </a:p>
        </p:txBody>
      </p:sp>
    </p:spTree>
    <p:extLst>
      <p:ext uri="{BB962C8B-B14F-4D97-AF65-F5344CB8AC3E}">
        <p14:creationId xmlns:p14="http://schemas.microsoft.com/office/powerpoint/2010/main" val="194754720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EB6DEE63-BE41-41AB-9512-0AD4948D9815}" vid="{C06A2116-4534-44AC-A79C-40D866AE0D36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396</TotalTime>
  <Words>460</Words>
  <Application>Microsoft Office PowerPoint</Application>
  <PresentationFormat>On-screen Show (4:3)</PresentationFormat>
  <Paragraphs>57</Paragraphs>
  <Slides>16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Myriad Pro</vt:lpstr>
      <vt:lpstr>Theme2</vt:lpstr>
      <vt:lpstr>Custom Design</vt:lpstr>
      <vt:lpstr>Document</vt:lpstr>
      <vt:lpstr>PowerPoint Presentation</vt:lpstr>
      <vt:lpstr>Chapter 32  Software requirements and risk management</vt:lpstr>
      <vt:lpstr>Objectives</vt:lpstr>
      <vt:lpstr>Contents</vt:lpstr>
      <vt:lpstr>Fundamentals of software risk management </vt:lpstr>
      <vt:lpstr>Elements of risk management </vt:lpstr>
      <vt:lpstr>Requirements-related risks: Requirements elicitation</vt:lpstr>
      <vt:lpstr>Requirements-related risks: Requirements analysis</vt:lpstr>
      <vt:lpstr>Requirements-related risks: Requirements specification</vt:lpstr>
      <vt:lpstr>Requirements-related risks: Requirements validation</vt:lpstr>
      <vt:lpstr>Requirements-related risks: Requirements management</vt:lpstr>
      <vt:lpstr>Documenting project risks </vt:lpstr>
      <vt:lpstr>Documenting project risks </vt:lpstr>
      <vt:lpstr>Planning for risk management </vt:lpstr>
      <vt:lpstr>Risk management is your friend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32  Software requirements and risk management</dc:title>
  <dc:creator>Huong</dc:creator>
  <cp:lastModifiedBy>Chien Dinh Bui</cp:lastModifiedBy>
  <cp:revision>14</cp:revision>
  <dcterms:created xsi:type="dcterms:W3CDTF">2018-04-24T07:15:10Z</dcterms:created>
  <dcterms:modified xsi:type="dcterms:W3CDTF">2022-03-18T07:48:05Z</dcterms:modified>
</cp:coreProperties>
</file>